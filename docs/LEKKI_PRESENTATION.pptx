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1.png" ContentType="image/png"/>
  <Override PartName="/ppt/media/image9.png" ContentType="image/png"/>
  <Override PartName="/ppt/media/image12.png" ContentType="image/png"/>
  <Override PartName="/ppt/media/image7.png" ContentType="image/png"/>
  <Override PartName="/ppt/media/image13.png" ContentType="image/png"/>
  <Override PartName="/ppt/media/image8.png" ContentType="image/png"/>
  <Override PartName="/ppt/media/image6.jpeg" ContentType="image/jpeg"/>
  <Override PartName="/ppt/media/image10.png" ContentType="image/png"/>
  <Override PartName="/ppt/media/image5.png" ContentType="image/png"/>
  <Override PartName="/ppt/media/image4.jpeg" ContentType="image/jpeg"/>
  <Override PartName="/ppt/media/image25.png" ContentType="image/png"/>
  <Override PartName="/ppt/media/image2.jpeg" ContentType="image/jpe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4.png" ContentType="image/png"/>
  <Override PartName="/ppt/media/image1.png" ContentType="image/png"/>
  <Override PartName="/ppt/media/image24.png" ContentType="image/png"/>
  <Override PartName="/ppt/media/image3.jpeg" ContentType="image/jpeg"/>
  <Override PartName="/ppt/media/image15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9F8F074-DB35-42CE-9ECD-9627EA1AD3AB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10C54D5-DA25-45B3-BF90-E18A70AC980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B842547-9FDF-49C9-950A-ED6BD418DD3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1D9D1B2-9462-4C65-B2ED-0871C6A26D3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0FEBDEA-A6B3-419D-903A-C3C15CE3A8B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4260DCC-57C8-46B3-ABDF-4794BBC70E3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2A654EF-DD85-443C-BF98-AA5A04104AF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0EE576F-47AA-4646-8C65-1C59CCE5846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BD24D52-01BB-4343-A035-B6F97FEC683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F68873C-6313-4BC4-89CB-7FC6D635BC0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png"/><Relationship Id="rId6" Type="http://schemas.openxmlformats.org/officeDocument/2006/relationships/image" Target="../media/image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15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365760" y="0"/>
            <a:ext cx="72360" cy="51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5" name="Image 0" descr="/mnt/user-data/uploads/logo.svg"/>
          <p:cNvPicPr/>
          <p:nvPr/>
        </p:nvPicPr>
        <p:blipFill>
          <a:blip r:embed="rId1">
            <a:alphaModFix amt="0"/>
          </a:blip>
          <a:stretch/>
        </p:blipFill>
        <p:spPr>
          <a:xfrm>
            <a:off x="7498080" y="274320"/>
            <a:ext cx="1188000" cy="1188000"/>
          </a:xfrm>
          <a:prstGeom prst="rect">
            <a:avLst/>
          </a:prstGeom>
          <a:ln w="0">
            <a:noFill/>
          </a:ln>
        </p:spPr>
      </p:pic>
      <p:sp>
        <p:nvSpPr>
          <p:cNvPr id="46" name="Text 1"/>
          <p:cNvSpPr/>
          <p:nvPr/>
        </p:nvSpPr>
        <p:spPr>
          <a:xfrm>
            <a:off x="640080" y="1097280"/>
            <a:ext cx="67658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200" spc="-1" strike="noStrike">
                <a:solidFill>
                  <a:srgbClr val="10b981"/>
                </a:solidFill>
                <a:latin typeface="Arial"/>
                <a:ea typeface="Arial"/>
              </a:rPr>
              <a:t>Lekki</a:t>
            </a:r>
            <a:endParaRPr b="0" lang="en-US" sz="7200" spc="-1" strike="noStrike"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640080" y="2011680"/>
            <a:ext cx="81374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  <a:ea typeface="Arial"/>
              </a:rPr>
              <a:t>Le Hub Intelligent de Gestion des Savoirs Étudiants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8" name="Text 3"/>
          <p:cNvSpPr/>
          <p:nvPr/>
        </p:nvSpPr>
        <p:spPr>
          <a:xfrm>
            <a:off x="640080" y="3108960"/>
            <a:ext cx="81374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d1d5db"/>
                </a:solidFill>
                <a:latin typeface="Arial"/>
                <a:ea typeface="Arial"/>
              </a:rPr>
              <a:t>Transformez vos documents en intelligence collective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49" name="Image 1" descr="/mnt/user-data/uploads/logo_supptic.jpg"/>
          <p:cNvPicPr/>
          <p:nvPr/>
        </p:nvPicPr>
        <p:blipFill>
          <a:blip r:embed="rId2">
            <a:alphaModFix amt="0"/>
          </a:blip>
          <a:stretch/>
        </p:blipFill>
        <p:spPr>
          <a:xfrm>
            <a:off x="757800" y="3958200"/>
            <a:ext cx="730800" cy="730800"/>
          </a:xfrm>
          <a:prstGeom prst="rect">
            <a:avLst/>
          </a:prstGeom>
          <a:ln w="0">
            <a:noFill/>
          </a:ln>
        </p:spPr>
      </p:pic>
      <p:sp>
        <p:nvSpPr>
          <p:cNvPr id="50" name="Text 4"/>
          <p:cNvSpPr/>
          <p:nvPr/>
        </p:nvSpPr>
        <p:spPr>
          <a:xfrm>
            <a:off x="722160" y="4725360"/>
            <a:ext cx="1370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Arial"/>
                <a:ea typeface="Arial"/>
              </a:rPr>
              <a:t>SUP'PTIC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1" name="Text 5"/>
          <p:cNvSpPr/>
          <p:nvPr/>
        </p:nvSpPr>
        <p:spPr>
          <a:xfrm>
            <a:off x="7351200" y="4723200"/>
            <a:ext cx="1645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Arial"/>
                <a:ea typeface="Arial"/>
              </a:rPr>
              <a:t>Club Informatique</a:t>
            </a:r>
            <a:endParaRPr b="0" lang="en-US" sz="1100" spc="-1" strike="noStrike">
              <a:latin typeface="Arial"/>
            </a:endParaRPr>
          </a:p>
        </p:txBody>
      </p:sp>
      <p:pic>
        <p:nvPicPr>
          <p:cNvPr id="52" name="" descr=""/>
          <p:cNvPicPr/>
          <p:nvPr/>
        </p:nvPicPr>
        <p:blipFill>
          <a:blip r:embed="rId3">
            <a:alphaModFix amt="0"/>
          </a:blip>
          <a:stretch/>
        </p:blipFill>
        <p:spPr>
          <a:xfrm>
            <a:off x="7543800" y="3958200"/>
            <a:ext cx="893880" cy="739800"/>
          </a:xfrm>
          <a:prstGeom prst="rect">
            <a:avLst/>
          </a:prstGeom>
          <a:ln w="0">
            <a:noFill/>
          </a:ln>
        </p:spPr>
      </p:pic>
      <p:pic>
        <p:nvPicPr>
          <p:cNvPr id="53" name="" descr=""/>
          <p:cNvPicPr/>
          <p:nvPr/>
        </p:nvPicPr>
        <p:blipFill>
          <a:blip r:embed="rId4"/>
          <a:stretch/>
        </p:blipFill>
        <p:spPr>
          <a:xfrm>
            <a:off x="722160" y="4114800"/>
            <a:ext cx="878040" cy="685800"/>
          </a:xfrm>
          <a:prstGeom prst="rect">
            <a:avLst/>
          </a:prstGeom>
          <a:ln w="0">
            <a:noFill/>
          </a:ln>
        </p:spPr>
      </p:pic>
      <p:pic>
        <p:nvPicPr>
          <p:cNvPr id="54" name="" descr=""/>
          <p:cNvPicPr/>
          <p:nvPr/>
        </p:nvPicPr>
        <p:blipFill>
          <a:blip r:embed="rId5"/>
          <a:stretch/>
        </p:blipFill>
        <p:spPr>
          <a:xfrm>
            <a:off x="8001000" y="228600"/>
            <a:ext cx="914400" cy="914400"/>
          </a:xfrm>
          <a:prstGeom prst="rect">
            <a:avLst/>
          </a:prstGeom>
          <a:ln w="0">
            <a:noFill/>
          </a:ln>
        </p:spPr>
      </p:pic>
      <p:pic>
        <p:nvPicPr>
          <p:cNvPr id="55" name="" descr=""/>
          <p:cNvPicPr/>
          <p:nvPr/>
        </p:nvPicPr>
        <p:blipFill>
          <a:blip r:embed="rId6"/>
          <a:stretch/>
        </p:blipFill>
        <p:spPr>
          <a:xfrm>
            <a:off x="7543800" y="3958200"/>
            <a:ext cx="845280" cy="845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15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/>
          <p:cNvSpPr/>
          <p:nvPr/>
        </p:nvSpPr>
        <p:spPr>
          <a:xfrm>
            <a:off x="365760" y="0"/>
            <a:ext cx="72360" cy="51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7" name="Image 0" descr="/mnt/user-data/uploads/logo.svg"/>
          <p:cNvPicPr/>
          <p:nvPr/>
        </p:nvPicPr>
        <p:blipFill>
          <a:blip r:embed="rId1">
            <a:alphaModFix amt="0"/>
          </a:blip>
          <a:stretch/>
        </p:blipFill>
        <p:spPr>
          <a:xfrm>
            <a:off x="8229600" y="274320"/>
            <a:ext cx="822240" cy="822240"/>
          </a:xfrm>
          <a:prstGeom prst="rect">
            <a:avLst/>
          </a:prstGeom>
          <a:ln w="0">
            <a:noFill/>
          </a:ln>
        </p:spPr>
      </p:pic>
      <p:sp>
        <p:nvSpPr>
          <p:cNvPr id="58" name="Text 1"/>
          <p:cNvSpPr/>
          <p:nvPr/>
        </p:nvSpPr>
        <p:spPr>
          <a:xfrm>
            <a:off x="640080" y="320040"/>
            <a:ext cx="7314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Le Problème : Infobésité Documentaire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59" name="Image 1" descr="/tmp/icon_fire_1789683744140.png"/>
          <p:cNvPicPr/>
          <p:nvPr/>
        </p:nvPicPr>
        <p:blipFill>
          <a:blip r:embed="rId2">
            <a:alphaModFix amt="0"/>
          </a:blip>
          <a:stretch/>
        </p:blipFill>
        <p:spPr>
          <a:xfrm>
            <a:off x="777240" y="153216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60" name="Text 3"/>
          <p:cNvSpPr/>
          <p:nvPr/>
        </p:nvSpPr>
        <p:spPr>
          <a:xfrm>
            <a:off x="1234440" y="1532160"/>
            <a:ext cx="32911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c4899"/>
                </a:solidFill>
                <a:latin typeface="Arial"/>
                <a:ea typeface="Arial"/>
              </a:rPr>
              <a:t>Dispersion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777240" y="2035080"/>
            <a:ext cx="37483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4f5f7"/>
                </a:solidFill>
                <a:latin typeface="Arial"/>
                <a:ea typeface="Arial"/>
              </a:rPr>
              <a:t>Fichiers éparpillés entre drives, emails et dossiers</a:t>
            </a:r>
            <a:endParaRPr b="0" lang="en-US" sz="1100" spc="-1" strike="noStrike">
              <a:latin typeface="Arial"/>
            </a:endParaRPr>
          </a:p>
        </p:txBody>
      </p:sp>
      <p:pic>
        <p:nvPicPr>
          <p:cNvPr id="62" name="Image 2" descr="/tmp/icon_fire_1789683744140.png"/>
          <p:cNvPicPr/>
          <p:nvPr/>
        </p:nvPicPr>
        <p:blipFill>
          <a:blip r:embed="rId3">
            <a:alphaModFix amt="0"/>
          </a:blip>
          <a:stretch/>
        </p:blipFill>
        <p:spPr>
          <a:xfrm>
            <a:off x="4983480" y="153216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63" name="Text 6"/>
          <p:cNvSpPr/>
          <p:nvPr/>
        </p:nvSpPr>
        <p:spPr>
          <a:xfrm>
            <a:off x="5440680" y="1532160"/>
            <a:ext cx="32911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c4899"/>
                </a:solidFill>
                <a:latin typeface="Arial"/>
                <a:ea typeface="Arial"/>
              </a:rPr>
              <a:t>Surcharge Cognitive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4983480" y="2035080"/>
            <a:ext cx="37483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4f5f7"/>
                </a:solidFill>
                <a:latin typeface="Arial"/>
                <a:ea typeface="Arial"/>
              </a:rPr>
              <a:t>Synthèse manuelle de multiples documents</a:t>
            </a:r>
            <a:endParaRPr b="0" lang="en-US" sz="1100" spc="-1" strike="noStrike">
              <a:latin typeface="Arial"/>
            </a:endParaRPr>
          </a:p>
        </p:txBody>
      </p:sp>
      <p:pic>
        <p:nvPicPr>
          <p:cNvPr id="65" name="Image 3" descr="/tmp/icon_fire_1789683744140.png"/>
          <p:cNvPicPr/>
          <p:nvPr/>
        </p:nvPicPr>
        <p:blipFill>
          <a:blip r:embed="rId4">
            <a:alphaModFix amt="0"/>
          </a:blip>
          <a:stretch/>
        </p:blipFill>
        <p:spPr>
          <a:xfrm>
            <a:off x="777240" y="331524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66" name="Text 9"/>
          <p:cNvSpPr/>
          <p:nvPr/>
        </p:nvSpPr>
        <p:spPr>
          <a:xfrm>
            <a:off x="1234440" y="3315240"/>
            <a:ext cx="32911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c4899"/>
                </a:solidFill>
                <a:latin typeface="Arial"/>
                <a:ea typeface="Arial"/>
              </a:rPr>
              <a:t>Perte de Temps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777240" y="3818160"/>
            <a:ext cx="37483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4f5f7"/>
                </a:solidFill>
                <a:latin typeface="Arial"/>
                <a:ea typeface="Arial"/>
              </a:rPr>
              <a:t>Retrouver une notion = recherche interminable</a:t>
            </a:r>
            <a:endParaRPr b="0" lang="en-US" sz="1100" spc="-1" strike="noStrike">
              <a:latin typeface="Arial"/>
            </a:endParaRPr>
          </a:p>
        </p:txBody>
      </p:sp>
      <p:pic>
        <p:nvPicPr>
          <p:cNvPr id="68" name="Image 4" descr="/tmp/icon_fire_1789683744140.png"/>
          <p:cNvPicPr/>
          <p:nvPr/>
        </p:nvPicPr>
        <p:blipFill>
          <a:blip r:embed="rId5">
            <a:alphaModFix amt="0"/>
          </a:blip>
          <a:stretch/>
        </p:blipFill>
        <p:spPr>
          <a:xfrm>
            <a:off x="4983480" y="331524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69" name="Text 12"/>
          <p:cNvSpPr/>
          <p:nvPr/>
        </p:nvSpPr>
        <p:spPr>
          <a:xfrm>
            <a:off x="5440680" y="3315240"/>
            <a:ext cx="32911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c4899"/>
                </a:solidFill>
                <a:latin typeface="Arial"/>
                <a:ea typeface="Arial"/>
              </a:rPr>
              <a:t>Absence de Structure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0" name="Text 13"/>
          <p:cNvSpPr/>
          <p:nvPr/>
        </p:nvSpPr>
        <p:spPr>
          <a:xfrm>
            <a:off x="4983480" y="3818160"/>
            <a:ext cx="37483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4f5f7"/>
                </a:solidFill>
                <a:latin typeface="Arial"/>
                <a:ea typeface="Arial"/>
              </a:rPr>
              <a:t>Documents en vrac sans liens logiques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1" name="Shape 1"/>
          <p:cNvSpPr/>
          <p:nvPr/>
        </p:nvSpPr>
        <p:spPr>
          <a:xfrm>
            <a:off x="4841280" y="1407600"/>
            <a:ext cx="4037760" cy="1599840"/>
          </a:xfrm>
          <a:prstGeom prst="roundRect">
            <a:avLst>
              <a:gd name="adj" fmla="val 3429"/>
            </a:avLst>
          </a:prstGeom>
          <a:noFill/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Shape 7"/>
          <p:cNvSpPr/>
          <p:nvPr/>
        </p:nvSpPr>
        <p:spPr>
          <a:xfrm>
            <a:off x="4841280" y="1407600"/>
            <a:ext cx="4037760" cy="1599840"/>
          </a:xfrm>
          <a:prstGeom prst="roundRect">
            <a:avLst>
              <a:gd name="adj" fmla="val 3429"/>
            </a:avLst>
          </a:prstGeom>
          <a:noFill/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Shape 4"/>
          <p:cNvSpPr/>
          <p:nvPr/>
        </p:nvSpPr>
        <p:spPr>
          <a:xfrm>
            <a:off x="685800" y="1407600"/>
            <a:ext cx="4037760" cy="1599840"/>
          </a:xfrm>
          <a:prstGeom prst="roundRect">
            <a:avLst>
              <a:gd name="adj" fmla="val 3429"/>
            </a:avLst>
          </a:prstGeom>
          <a:noFill/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Shape 10"/>
          <p:cNvSpPr/>
          <p:nvPr/>
        </p:nvSpPr>
        <p:spPr>
          <a:xfrm>
            <a:off x="649800" y="3200400"/>
            <a:ext cx="4037760" cy="1599840"/>
          </a:xfrm>
          <a:prstGeom prst="roundRect">
            <a:avLst>
              <a:gd name="adj" fmla="val 3429"/>
            </a:avLst>
          </a:prstGeom>
          <a:noFill/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Shape 13"/>
          <p:cNvSpPr/>
          <p:nvPr/>
        </p:nvSpPr>
        <p:spPr>
          <a:xfrm>
            <a:off x="4836600" y="3200400"/>
            <a:ext cx="4037760" cy="1599840"/>
          </a:xfrm>
          <a:prstGeom prst="roundRect">
            <a:avLst>
              <a:gd name="adj" fmla="val 3429"/>
            </a:avLst>
          </a:prstGeom>
          <a:noFill/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15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0"/>
          <p:cNvSpPr/>
          <p:nvPr/>
        </p:nvSpPr>
        <p:spPr>
          <a:xfrm>
            <a:off x="365760" y="0"/>
            <a:ext cx="72360" cy="51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77" name="Image 0" descr="/mnt/user-data/uploads/logo.svg"/>
          <p:cNvPicPr/>
          <p:nvPr/>
        </p:nvPicPr>
        <p:blipFill>
          <a:blip r:embed="rId1">
            <a:alphaModFix amt="0"/>
          </a:blip>
          <a:stretch/>
        </p:blipFill>
        <p:spPr>
          <a:xfrm>
            <a:off x="8229600" y="274320"/>
            <a:ext cx="822240" cy="822240"/>
          </a:xfrm>
          <a:prstGeom prst="rect">
            <a:avLst/>
          </a:prstGeom>
          <a:ln w="0">
            <a:noFill/>
          </a:ln>
        </p:spPr>
      </p:pic>
      <p:sp>
        <p:nvSpPr>
          <p:cNvPr id="78" name="Text 1"/>
          <p:cNvSpPr/>
          <p:nvPr/>
        </p:nvSpPr>
        <p:spPr>
          <a:xfrm>
            <a:off x="640080" y="320040"/>
            <a:ext cx="7314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La Solution : Lekki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79" name="Text 2"/>
          <p:cNvSpPr/>
          <p:nvPr/>
        </p:nvSpPr>
        <p:spPr>
          <a:xfrm>
            <a:off x="640080" y="1123560"/>
            <a:ext cx="8137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e5e7eb"/>
                </a:solidFill>
                <a:latin typeface="Arial"/>
                <a:ea typeface="Arial"/>
              </a:rPr>
              <a:t>Transformez la lecture passive en exploitation active du savoir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0" name="Shape 3"/>
          <p:cNvSpPr/>
          <p:nvPr/>
        </p:nvSpPr>
        <p:spPr>
          <a:xfrm>
            <a:off x="1544400" y="1907640"/>
            <a:ext cx="1462320" cy="1096560"/>
          </a:xfrm>
          <a:prstGeom prst="roundRect">
            <a:avLst>
              <a:gd name="adj" fmla="val 10000"/>
            </a:avLst>
          </a:prstGeom>
          <a:noFill/>
          <a:ln w="254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81" name="Image 1" descr="/tmp/icon_document_1789683744137.png"/>
          <p:cNvPicPr/>
          <p:nvPr/>
        </p:nvPicPr>
        <p:blipFill>
          <a:blip r:embed="rId2">
            <a:alphaModFix amt="0"/>
          </a:blip>
          <a:stretch/>
        </p:blipFill>
        <p:spPr>
          <a:xfrm>
            <a:off x="2093040" y="204480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82" name="Text 4"/>
          <p:cNvSpPr/>
          <p:nvPr/>
        </p:nvSpPr>
        <p:spPr>
          <a:xfrm>
            <a:off x="1544400" y="2456280"/>
            <a:ext cx="1462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4f5f7"/>
                </a:solidFill>
                <a:latin typeface="Arial"/>
                <a:ea typeface="Arial"/>
              </a:rPr>
              <a:t>Documents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4f5f7"/>
                </a:solidFill>
                <a:latin typeface="Arial"/>
                <a:ea typeface="Arial"/>
              </a:rPr>
              <a:t>Bruts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3080520" y="2273400"/>
            <a:ext cx="81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d1d5db"/>
                </a:solidFill>
                <a:latin typeface="Arial"/>
                <a:ea typeface="Arial"/>
              </a:rPr>
              <a:t>→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4" name="Shape 6"/>
          <p:cNvSpPr/>
          <p:nvPr/>
        </p:nvSpPr>
        <p:spPr>
          <a:xfrm>
            <a:off x="3236040" y="1907640"/>
            <a:ext cx="1462320" cy="1096560"/>
          </a:xfrm>
          <a:prstGeom prst="roundRect">
            <a:avLst>
              <a:gd name="adj" fmla="val 10000"/>
            </a:avLst>
          </a:prstGeom>
          <a:noFill/>
          <a:ln w="254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85" name="Image 2" descr="/tmp/icon_check_1789683744143.png"/>
          <p:cNvPicPr/>
          <p:nvPr/>
        </p:nvPicPr>
        <p:blipFill>
          <a:blip r:embed="rId3">
            <a:alphaModFix amt="0"/>
          </a:blip>
          <a:stretch/>
        </p:blipFill>
        <p:spPr>
          <a:xfrm>
            <a:off x="3784680" y="204480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86" name="Text 7"/>
          <p:cNvSpPr/>
          <p:nvPr/>
        </p:nvSpPr>
        <p:spPr>
          <a:xfrm>
            <a:off x="3236040" y="2456280"/>
            <a:ext cx="1462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4f5f7"/>
                </a:solidFill>
                <a:latin typeface="Arial"/>
                <a:ea typeface="Arial"/>
              </a:rPr>
              <a:t>Extraction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4f5f7"/>
                </a:solidFill>
                <a:latin typeface="Arial"/>
                <a:ea typeface="Arial"/>
              </a:rPr>
              <a:t>Structurée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7" name="Text 8"/>
          <p:cNvSpPr/>
          <p:nvPr/>
        </p:nvSpPr>
        <p:spPr>
          <a:xfrm>
            <a:off x="4772160" y="2273400"/>
            <a:ext cx="81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d1d5db"/>
                </a:solidFill>
                <a:latin typeface="Arial"/>
                <a:ea typeface="Arial"/>
              </a:rPr>
              <a:t>→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8" name="Shape 9"/>
          <p:cNvSpPr/>
          <p:nvPr/>
        </p:nvSpPr>
        <p:spPr>
          <a:xfrm>
            <a:off x="4927680" y="1907640"/>
            <a:ext cx="1462320" cy="1096560"/>
          </a:xfrm>
          <a:prstGeom prst="roundRect">
            <a:avLst>
              <a:gd name="adj" fmla="val 10000"/>
            </a:avLst>
          </a:prstGeom>
          <a:noFill/>
          <a:ln w="254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89" name="Image 3" descr="/tmp/icon_book_1789683744145.png"/>
          <p:cNvPicPr/>
          <p:nvPr/>
        </p:nvPicPr>
        <p:blipFill>
          <a:blip r:embed="rId4">
            <a:alphaModFix amt="0"/>
          </a:blip>
          <a:stretch/>
        </p:blipFill>
        <p:spPr>
          <a:xfrm>
            <a:off x="5476320" y="204480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90" name="Text 10"/>
          <p:cNvSpPr/>
          <p:nvPr/>
        </p:nvSpPr>
        <p:spPr>
          <a:xfrm>
            <a:off x="4927680" y="2456280"/>
            <a:ext cx="1462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4f5f7"/>
                </a:solidFill>
                <a:latin typeface="Arial"/>
                <a:ea typeface="Arial"/>
              </a:rPr>
              <a:t>Base de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4f5f7"/>
                </a:solidFill>
                <a:latin typeface="Arial"/>
                <a:ea typeface="Arial"/>
              </a:rPr>
              <a:t>Connaissances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1" name="Text 11"/>
          <p:cNvSpPr/>
          <p:nvPr/>
        </p:nvSpPr>
        <p:spPr>
          <a:xfrm>
            <a:off x="6463800" y="2273400"/>
            <a:ext cx="81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d1d5db"/>
                </a:solidFill>
                <a:latin typeface="Arial"/>
                <a:ea typeface="Arial"/>
              </a:rPr>
              <a:t>→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2" name="Shape 12"/>
          <p:cNvSpPr/>
          <p:nvPr/>
        </p:nvSpPr>
        <p:spPr>
          <a:xfrm>
            <a:off x="6619320" y="1907640"/>
            <a:ext cx="1462320" cy="1096560"/>
          </a:xfrm>
          <a:prstGeom prst="roundRect">
            <a:avLst>
              <a:gd name="adj" fmla="val 10000"/>
            </a:avLst>
          </a:prstGeom>
          <a:noFill/>
          <a:ln w="254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93" name="Image 4" descr="/tmp/icon_sparkles_1789683744147.png"/>
          <p:cNvPicPr/>
          <p:nvPr/>
        </p:nvPicPr>
        <p:blipFill>
          <a:blip r:embed="rId5">
            <a:alphaModFix amt="0"/>
          </a:blip>
          <a:stretch/>
        </p:blipFill>
        <p:spPr>
          <a:xfrm>
            <a:off x="7167960" y="204480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94" name="Text 13"/>
          <p:cNvSpPr/>
          <p:nvPr/>
        </p:nvSpPr>
        <p:spPr>
          <a:xfrm>
            <a:off x="6619320" y="2456280"/>
            <a:ext cx="1462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4f5f7"/>
                </a:solidFill>
                <a:latin typeface="Arial"/>
                <a:ea typeface="Arial"/>
              </a:rPr>
              <a:t>Interrogation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4f5f7"/>
                </a:solidFill>
                <a:latin typeface="Arial"/>
                <a:ea typeface="Arial"/>
              </a:rPr>
              <a:t>IA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5" name="Text 14"/>
          <p:cNvSpPr/>
          <p:nvPr/>
        </p:nvSpPr>
        <p:spPr>
          <a:xfrm>
            <a:off x="822960" y="3429000"/>
            <a:ext cx="795456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4f5f7"/>
                </a:solidFill>
                <a:latin typeface="Arial"/>
                <a:ea typeface="Arial"/>
              </a:rPr>
              <a:t>✓ </a:t>
            </a:r>
            <a:r>
              <a:rPr b="0" lang="en-US" sz="1200" spc="-1" strike="noStrike">
                <a:solidFill>
                  <a:srgbClr val="f4f5f7"/>
                </a:solidFill>
                <a:latin typeface="Arial"/>
                <a:ea typeface="Arial"/>
              </a:rPr>
              <a:t>Centralisation documentaire complète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4f5f7"/>
                </a:solidFill>
                <a:latin typeface="Arial"/>
                <a:ea typeface="Arial"/>
              </a:rPr>
              <a:t>✓ </a:t>
            </a:r>
            <a:r>
              <a:rPr b="0" lang="en-US" sz="1200" spc="-1" strike="noStrike">
                <a:solidFill>
                  <a:srgbClr val="f4f5f7"/>
                </a:solidFill>
                <a:latin typeface="Arial"/>
                <a:ea typeface="Arial"/>
              </a:rPr>
              <a:t>Indexation précise avec numéros de page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4f5f7"/>
                </a:solidFill>
                <a:latin typeface="Arial"/>
                <a:ea typeface="Arial"/>
              </a:rPr>
              <a:t>✓ </a:t>
            </a:r>
            <a:r>
              <a:rPr b="0" lang="en-US" sz="1200" spc="-1" strike="noStrike">
                <a:solidFill>
                  <a:srgbClr val="f4f5f7"/>
                </a:solidFill>
                <a:latin typeface="Arial"/>
                <a:ea typeface="Arial"/>
              </a:rPr>
              <a:t>Wiki collaboratif structuré hiérarchiquement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4f5f7"/>
                </a:solidFill>
                <a:latin typeface="Arial"/>
                <a:ea typeface="Arial"/>
              </a:rPr>
              <a:t>✓ </a:t>
            </a:r>
            <a:r>
              <a:rPr b="0" lang="en-US" sz="1200" spc="-1" strike="noStrike">
                <a:solidFill>
                  <a:srgbClr val="f4f5f7"/>
                </a:solidFill>
                <a:latin typeface="Arial"/>
                <a:ea typeface="Arial"/>
              </a:rPr>
              <a:t>Assistant IA basé sur RAG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15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0"/>
          <p:cNvSpPr/>
          <p:nvPr/>
        </p:nvSpPr>
        <p:spPr>
          <a:xfrm>
            <a:off x="365760" y="0"/>
            <a:ext cx="72360" cy="51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97" name="Image 0" descr="/mnt/user-data/uploads/logo.svg"/>
          <p:cNvPicPr/>
          <p:nvPr/>
        </p:nvPicPr>
        <p:blipFill>
          <a:blip r:embed="rId1">
            <a:alphaModFix amt="0"/>
          </a:blip>
          <a:stretch/>
        </p:blipFill>
        <p:spPr>
          <a:xfrm>
            <a:off x="8229600" y="274320"/>
            <a:ext cx="822240" cy="822240"/>
          </a:xfrm>
          <a:prstGeom prst="rect">
            <a:avLst/>
          </a:prstGeom>
          <a:ln w="0">
            <a:noFill/>
          </a:ln>
        </p:spPr>
      </p:pic>
      <p:sp>
        <p:nvSpPr>
          <p:cNvPr id="98" name="Text 1"/>
          <p:cNvSpPr/>
          <p:nvPr/>
        </p:nvSpPr>
        <p:spPr>
          <a:xfrm>
            <a:off x="640080" y="320040"/>
            <a:ext cx="7314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Pilier 1 : Gestion Documentaire Unifiée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99" name="Text 2"/>
          <p:cNvSpPr/>
          <p:nvPr/>
        </p:nvSpPr>
        <p:spPr>
          <a:xfrm>
            <a:off x="685800" y="1371600"/>
            <a:ext cx="8137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d1d5db"/>
                </a:solidFill>
                <a:latin typeface="Arial"/>
                <a:ea typeface="Arial"/>
              </a:rPr>
              <a:t>Le Drive collaboratif de Lekki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100" name="Image 1" descr="/tmp/icon_check_1789683744143.png"/>
          <p:cNvPicPr/>
          <p:nvPr/>
        </p:nvPicPr>
        <p:blipFill>
          <a:blip r:embed="rId2">
            <a:alphaModFix amt="0"/>
          </a:blip>
          <a:stretch/>
        </p:blipFill>
        <p:spPr>
          <a:xfrm>
            <a:off x="685800" y="2048760"/>
            <a:ext cx="319320" cy="319320"/>
          </a:xfrm>
          <a:prstGeom prst="rect">
            <a:avLst/>
          </a:prstGeom>
          <a:ln w="0">
            <a:noFill/>
          </a:ln>
        </p:spPr>
      </p:pic>
      <p:sp>
        <p:nvSpPr>
          <p:cNvPr id="101" name="Text 3"/>
          <p:cNvSpPr/>
          <p:nvPr/>
        </p:nvSpPr>
        <p:spPr>
          <a:xfrm>
            <a:off x="1143000" y="204876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0b981"/>
                </a:solidFill>
                <a:latin typeface="Arial"/>
                <a:ea typeface="Arial"/>
              </a:rPr>
              <a:t>Ingestion Intelligente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2" name="Text 4"/>
          <p:cNvSpPr/>
          <p:nvPr/>
        </p:nvSpPr>
        <p:spPr>
          <a:xfrm>
            <a:off x="1143000" y="241452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4f5f7"/>
                </a:solidFill>
                <a:latin typeface="Arial"/>
                <a:ea typeface="Arial"/>
              </a:rPr>
              <a:t>Extraction native des PDF et DOCX, préservant la structure</a:t>
            </a:r>
            <a:endParaRPr b="0" lang="en-US" sz="1100" spc="-1" strike="noStrike">
              <a:latin typeface="Arial"/>
            </a:endParaRPr>
          </a:p>
        </p:txBody>
      </p:sp>
      <p:pic>
        <p:nvPicPr>
          <p:cNvPr id="103" name="Image 2" descr="/tmp/icon_check_1789683744143.png"/>
          <p:cNvPicPr/>
          <p:nvPr/>
        </p:nvPicPr>
        <p:blipFill>
          <a:blip r:embed="rId3">
            <a:alphaModFix amt="0"/>
          </a:blip>
          <a:stretch/>
        </p:blipFill>
        <p:spPr>
          <a:xfrm>
            <a:off x="685800" y="3100320"/>
            <a:ext cx="319320" cy="319320"/>
          </a:xfrm>
          <a:prstGeom prst="rect">
            <a:avLst/>
          </a:prstGeom>
          <a:ln w="0">
            <a:noFill/>
          </a:ln>
        </p:spPr>
      </p:pic>
      <p:sp>
        <p:nvSpPr>
          <p:cNvPr id="104" name="Text 5"/>
          <p:cNvSpPr/>
          <p:nvPr/>
        </p:nvSpPr>
        <p:spPr>
          <a:xfrm>
            <a:off x="1143000" y="310032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0b981"/>
                </a:solidFill>
                <a:latin typeface="Arial"/>
                <a:ea typeface="Arial"/>
              </a:rPr>
              <a:t>Indexation Précise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5" name="Text 6"/>
          <p:cNvSpPr/>
          <p:nvPr/>
        </p:nvSpPr>
        <p:spPr>
          <a:xfrm>
            <a:off x="1143000" y="346608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4f5f7"/>
                </a:solidFill>
                <a:latin typeface="Arial"/>
                <a:ea typeface="Arial"/>
              </a:rPr>
              <a:t>Suivi automatique des numéros de pages pour attribution exacte</a:t>
            </a:r>
            <a:endParaRPr b="0" lang="en-US" sz="1100" spc="-1" strike="noStrike">
              <a:latin typeface="Arial"/>
            </a:endParaRPr>
          </a:p>
        </p:txBody>
      </p:sp>
      <p:pic>
        <p:nvPicPr>
          <p:cNvPr id="106" name="Image 3" descr="/tmp/icon_check_1789683744143.png"/>
          <p:cNvPicPr/>
          <p:nvPr/>
        </p:nvPicPr>
        <p:blipFill>
          <a:blip r:embed="rId4">
            <a:alphaModFix amt="0"/>
          </a:blip>
          <a:stretch/>
        </p:blipFill>
        <p:spPr>
          <a:xfrm>
            <a:off x="685800" y="4151880"/>
            <a:ext cx="319320" cy="319320"/>
          </a:xfrm>
          <a:prstGeom prst="rect">
            <a:avLst/>
          </a:prstGeom>
          <a:ln w="0">
            <a:noFill/>
          </a:ln>
        </p:spPr>
      </p:pic>
      <p:sp>
        <p:nvSpPr>
          <p:cNvPr id="107" name="Text 7"/>
          <p:cNvSpPr/>
          <p:nvPr/>
        </p:nvSpPr>
        <p:spPr>
          <a:xfrm>
            <a:off x="1143000" y="415188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0b981"/>
                </a:solidFill>
                <a:latin typeface="Arial"/>
                <a:ea typeface="Arial"/>
              </a:rPr>
              <a:t>Espaces Collaboratifs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8" name="Text 8"/>
          <p:cNvSpPr/>
          <p:nvPr/>
        </p:nvSpPr>
        <p:spPr>
          <a:xfrm>
            <a:off x="1143000" y="451764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4f5f7"/>
                </a:solidFill>
                <a:latin typeface="Arial"/>
                <a:ea typeface="Arial"/>
              </a:rPr>
              <a:t>Workspaces dédiés avec gestion granulaire des accès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15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365760" y="0"/>
            <a:ext cx="72360" cy="51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10" name="Image 0" descr="/mnt/user-data/uploads/logo.svg"/>
          <p:cNvPicPr/>
          <p:nvPr/>
        </p:nvPicPr>
        <p:blipFill>
          <a:blip r:embed="rId1">
            <a:alphaModFix amt="0"/>
          </a:blip>
          <a:stretch/>
        </p:blipFill>
        <p:spPr>
          <a:xfrm>
            <a:off x="8229600" y="274320"/>
            <a:ext cx="822240" cy="822240"/>
          </a:xfrm>
          <a:prstGeom prst="rect">
            <a:avLst/>
          </a:prstGeom>
          <a:ln w="0">
            <a:noFill/>
          </a:ln>
        </p:spPr>
      </p:pic>
      <p:sp>
        <p:nvSpPr>
          <p:cNvPr id="111" name="Text 1"/>
          <p:cNvSpPr/>
          <p:nvPr/>
        </p:nvSpPr>
        <p:spPr>
          <a:xfrm>
            <a:off x="640080" y="320040"/>
            <a:ext cx="7314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Pilier 2 : Wiki Professionnel Collaboratif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12" name="Text 2"/>
          <p:cNvSpPr/>
          <p:nvPr/>
        </p:nvSpPr>
        <p:spPr>
          <a:xfrm>
            <a:off x="640080" y="1371600"/>
            <a:ext cx="8137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d1d5db"/>
                </a:solidFill>
                <a:latin typeface="Arial"/>
                <a:ea typeface="Arial"/>
              </a:rPr>
              <a:t>Hiérarchie : Pôle → Section → Page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3" name="Shape 3"/>
          <p:cNvSpPr/>
          <p:nvPr/>
        </p:nvSpPr>
        <p:spPr>
          <a:xfrm>
            <a:off x="640080" y="1828800"/>
            <a:ext cx="2666160" cy="3016800"/>
          </a:xfrm>
          <a:prstGeom prst="roundRect">
            <a:avLst>
              <a:gd name="adj" fmla="val 3429"/>
            </a:avLst>
          </a:prstGeom>
          <a:noFill/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Text 4"/>
          <p:cNvSpPr/>
          <p:nvPr/>
        </p:nvSpPr>
        <p:spPr>
          <a:xfrm>
            <a:off x="685800" y="2057400"/>
            <a:ext cx="23918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0b981"/>
                </a:solidFill>
                <a:latin typeface="Arial"/>
                <a:ea typeface="Arial"/>
              </a:rPr>
              <a:t>Éditeur Haute Performance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808200" y="2743200"/>
            <a:ext cx="239184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4f5f7"/>
                </a:solidFill>
                <a:latin typeface="Arial"/>
                <a:ea typeface="Arial"/>
              </a:rPr>
              <a:t>Interface plein écran optimisée pour contenu long-format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6" name="Shape 6"/>
          <p:cNvSpPr/>
          <p:nvPr/>
        </p:nvSpPr>
        <p:spPr>
          <a:xfrm>
            <a:off x="3429000" y="1828800"/>
            <a:ext cx="2666160" cy="3016800"/>
          </a:xfrm>
          <a:prstGeom prst="roundRect">
            <a:avLst>
              <a:gd name="adj" fmla="val 3429"/>
            </a:avLst>
          </a:prstGeom>
          <a:noFill/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7"/>
          <p:cNvSpPr/>
          <p:nvPr/>
        </p:nvSpPr>
        <p:spPr>
          <a:xfrm>
            <a:off x="3581280" y="2057400"/>
            <a:ext cx="23918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0b981"/>
                </a:solidFill>
                <a:latin typeface="Arial"/>
                <a:ea typeface="Arial"/>
              </a:rPr>
              <a:t>Certification du Savoir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8" name="Text 8"/>
          <p:cNvSpPr/>
          <p:nvPr/>
        </p:nvSpPr>
        <p:spPr>
          <a:xfrm>
            <a:off x="3581280" y="2743200"/>
            <a:ext cx="239184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4f5f7"/>
                </a:solidFill>
                <a:latin typeface="Arial"/>
                <a:ea typeface="Arial"/>
              </a:rPr>
              <a:t>Statuts : Brouillon, Communautaire, Vérifiée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9" name="Shape 9"/>
          <p:cNvSpPr/>
          <p:nvPr/>
        </p:nvSpPr>
        <p:spPr>
          <a:xfrm>
            <a:off x="6248520" y="1828800"/>
            <a:ext cx="2666160" cy="3016800"/>
          </a:xfrm>
          <a:prstGeom prst="roundRect">
            <a:avLst>
              <a:gd name="adj" fmla="val 3429"/>
            </a:avLst>
          </a:prstGeom>
          <a:noFill/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10"/>
          <p:cNvSpPr/>
          <p:nvPr/>
        </p:nvSpPr>
        <p:spPr>
          <a:xfrm>
            <a:off x="6385680" y="2057400"/>
            <a:ext cx="23918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0b981"/>
                </a:solidFill>
                <a:latin typeface="Arial"/>
                <a:ea typeface="Arial"/>
              </a:rPr>
              <a:t>Maillage Bidirectionnel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1" name="Text 11"/>
          <p:cNvSpPr/>
          <p:nvPr/>
        </p:nvSpPr>
        <p:spPr>
          <a:xfrm>
            <a:off x="6385680" y="2743200"/>
            <a:ext cx="239184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4f5f7"/>
                </a:solidFill>
                <a:latin typeface="Arial"/>
                <a:ea typeface="Arial"/>
              </a:rPr>
              <a:t>Liaisons dynamiques entre sources et synthèses Wiki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15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0"/>
          <p:cNvSpPr/>
          <p:nvPr/>
        </p:nvSpPr>
        <p:spPr>
          <a:xfrm>
            <a:off x="365760" y="0"/>
            <a:ext cx="72360" cy="51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23" name="Image 0" descr="/mnt/user-data/uploads/lekki-ai-logo.png"/>
          <p:cNvPicPr/>
          <p:nvPr/>
        </p:nvPicPr>
        <p:blipFill>
          <a:blip r:embed="rId1">
            <a:alphaModFix amt="0"/>
          </a:blip>
          <a:stretch/>
        </p:blipFill>
        <p:spPr>
          <a:xfrm>
            <a:off x="7772400" y="228600"/>
            <a:ext cx="1096560" cy="1096560"/>
          </a:xfrm>
          <a:prstGeom prst="rect">
            <a:avLst/>
          </a:prstGeom>
          <a:ln w="0">
            <a:noFill/>
          </a:ln>
        </p:spPr>
      </p:pic>
      <p:sp>
        <p:nvSpPr>
          <p:cNvPr id="124" name="Text 1"/>
          <p:cNvSpPr/>
          <p:nvPr/>
        </p:nvSpPr>
        <p:spPr>
          <a:xfrm>
            <a:off x="640080" y="320040"/>
            <a:ext cx="70401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Pilier 3 : Lekki AI - Intelligence Contextuelle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25" name="Text 2"/>
          <p:cNvSpPr/>
          <p:nvPr/>
        </p:nvSpPr>
        <p:spPr>
          <a:xfrm>
            <a:off x="633240" y="1371600"/>
            <a:ext cx="8137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d1d5db"/>
                </a:solidFill>
                <a:latin typeface="Arial"/>
                <a:ea typeface="Arial"/>
              </a:rPr>
              <a:t>RAG : L'IA ne devine pas, elle source ses réponses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6" name="Shape 3"/>
          <p:cNvSpPr/>
          <p:nvPr/>
        </p:nvSpPr>
        <p:spPr>
          <a:xfrm>
            <a:off x="640080" y="1828800"/>
            <a:ext cx="2666160" cy="3016800"/>
          </a:xfrm>
          <a:prstGeom prst="roundRect">
            <a:avLst>
              <a:gd name="adj" fmla="val 3429"/>
            </a:avLst>
          </a:prstGeom>
          <a:noFill/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4"/>
          <p:cNvSpPr/>
          <p:nvPr/>
        </p:nvSpPr>
        <p:spPr>
          <a:xfrm>
            <a:off x="777240" y="2057400"/>
            <a:ext cx="23918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0b981"/>
                </a:solidFill>
                <a:latin typeface="Arial"/>
                <a:ea typeface="Arial"/>
              </a:rPr>
              <a:t>Attribution Omniprésente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8" name="Text 5"/>
          <p:cNvSpPr/>
          <p:nvPr/>
        </p:nvSpPr>
        <p:spPr>
          <a:xfrm>
            <a:off x="777240" y="2514600"/>
            <a:ext cx="2391840" cy="21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4f5f7"/>
                </a:solidFill>
                <a:latin typeface="Arial"/>
                <a:ea typeface="Arial"/>
              </a:rPr>
              <a:t>• </a:t>
            </a:r>
            <a:r>
              <a:rPr b="0" lang="en-US" sz="950" spc="-1" strike="noStrike">
                <a:solidFill>
                  <a:srgbClr val="f4f5f7"/>
                </a:solidFill>
                <a:latin typeface="Arial"/>
                <a:ea typeface="Arial"/>
              </a:rPr>
              <a:t>Citation précise (document + page)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4f5f7"/>
                </a:solidFill>
                <a:latin typeface="Arial"/>
                <a:ea typeface="Arial"/>
              </a:rPr>
              <a:t>• </a:t>
            </a:r>
            <a:r>
              <a:rPr b="0" lang="en-US" sz="950" spc="-1" strike="noStrike">
                <a:solidFill>
                  <a:srgbClr val="f4f5f7"/>
                </a:solidFill>
                <a:latin typeface="Arial"/>
                <a:ea typeface="Arial"/>
              </a:rPr>
              <a:t>Badges "Ext" pour sources externes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29" name="Shape 6"/>
          <p:cNvSpPr/>
          <p:nvPr/>
        </p:nvSpPr>
        <p:spPr>
          <a:xfrm>
            <a:off x="3444120" y="1828800"/>
            <a:ext cx="2666160" cy="3016800"/>
          </a:xfrm>
          <a:prstGeom prst="roundRect">
            <a:avLst>
              <a:gd name="adj" fmla="val 3429"/>
            </a:avLst>
          </a:prstGeom>
          <a:noFill/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7"/>
          <p:cNvSpPr/>
          <p:nvPr/>
        </p:nvSpPr>
        <p:spPr>
          <a:xfrm>
            <a:off x="3551400" y="2057400"/>
            <a:ext cx="23918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0b981"/>
                </a:solidFill>
                <a:latin typeface="Arial"/>
                <a:ea typeface="Arial"/>
              </a:rPr>
              <a:t>Formatage Pédagogique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31" name="Text 8"/>
          <p:cNvSpPr/>
          <p:nvPr/>
        </p:nvSpPr>
        <p:spPr>
          <a:xfrm>
            <a:off x="3581280" y="2514600"/>
            <a:ext cx="2391840" cy="21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4f5f7"/>
                </a:solidFill>
                <a:latin typeface="Arial"/>
                <a:ea typeface="Arial"/>
              </a:rPr>
              <a:t>• </a:t>
            </a:r>
            <a:r>
              <a:rPr b="0" lang="en-US" sz="950" spc="-1" strike="noStrike">
                <a:solidFill>
                  <a:srgbClr val="f4f5f7"/>
                </a:solidFill>
                <a:latin typeface="Arial"/>
                <a:ea typeface="Arial"/>
              </a:rPr>
              <a:t>Réponse directe + développement structuré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4f5f7"/>
                </a:solidFill>
                <a:latin typeface="Arial"/>
                <a:ea typeface="Arial"/>
              </a:rPr>
              <a:t>• </a:t>
            </a:r>
            <a:r>
              <a:rPr b="0" lang="en-US" sz="950" spc="-1" strike="noStrike">
                <a:solidFill>
                  <a:srgbClr val="f4f5f7"/>
                </a:solidFill>
                <a:latin typeface="Arial"/>
                <a:ea typeface="Arial"/>
              </a:rPr>
              <a:t>Citations explicites des sources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32" name="Shape 9"/>
          <p:cNvSpPr/>
          <p:nvPr/>
        </p:nvSpPr>
        <p:spPr>
          <a:xfrm>
            <a:off x="6248880" y="1828800"/>
            <a:ext cx="2666160" cy="3016800"/>
          </a:xfrm>
          <a:prstGeom prst="roundRect">
            <a:avLst>
              <a:gd name="adj" fmla="val 3429"/>
            </a:avLst>
          </a:prstGeom>
          <a:noFill/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10"/>
          <p:cNvSpPr/>
          <p:nvPr/>
        </p:nvSpPr>
        <p:spPr>
          <a:xfrm>
            <a:off x="6385680" y="2057760"/>
            <a:ext cx="23918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0b981"/>
                </a:solidFill>
                <a:latin typeface="Arial"/>
                <a:ea typeface="Arial"/>
              </a:rPr>
              <a:t>UX Naturelle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34" name="Text 11"/>
          <p:cNvSpPr/>
          <p:nvPr/>
        </p:nvSpPr>
        <p:spPr>
          <a:xfrm>
            <a:off x="6400800" y="2514600"/>
            <a:ext cx="2391840" cy="21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4f5f7"/>
                </a:solidFill>
                <a:latin typeface="Arial"/>
                <a:ea typeface="Arial"/>
              </a:rPr>
              <a:t>• </a:t>
            </a:r>
            <a:r>
              <a:rPr b="0" lang="en-US" sz="950" spc="-1" strike="noStrike">
                <a:solidFill>
                  <a:srgbClr val="f4f5f7"/>
                </a:solidFill>
                <a:latin typeface="Arial"/>
                <a:ea typeface="Arial"/>
              </a:rPr>
              <a:t>Chat avec effet dactylographie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4f5f7"/>
                </a:solidFill>
                <a:latin typeface="Arial"/>
                <a:ea typeface="Arial"/>
              </a:rPr>
              <a:t>• </a:t>
            </a:r>
            <a:r>
              <a:rPr b="0" lang="en-US" sz="950" spc="-1" strike="noStrike">
                <a:solidFill>
                  <a:srgbClr val="f4f5f7"/>
                </a:solidFill>
                <a:latin typeface="Arial"/>
                <a:ea typeface="Arial"/>
              </a:rPr>
              <a:t>Interaction fluide et humaine</a:t>
            </a:r>
            <a:endParaRPr b="0" lang="en-US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15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0"/>
          <p:cNvSpPr/>
          <p:nvPr/>
        </p:nvSpPr>
        <p:spPr>
          <a:xfrm>
            <a:off x="365760" y="0"/>
            <a:ext cx="72360" cy="51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36" name="Image 0" descr="/mnt/user-data/uploads/logo.svg"/>
          <p:cNvPicPr/>
          <p:nvPr/>
        </p:nvPicPr>
        <p:blipFill>
          <a:blip r:embed="rId1">
            <a:alphaModFix amt="0"/>
          </a:blip>
          <a:stretch/>
        </p:blipFill>
        <p:spPr>
          <a:xfrm>
            <a:off x="8229600" y="274320"/>
            <a:ext cx="822240" cy="822240"/>
          </a:xfrm>
          <a:prstGeom prst="rect">
            <a:avLst/>
          </a:prstGeom>
          <a:ln w="0">
            <a:noFill/>
          </a:ln>
        </p:spPr>
      </p:pic>
      <p:sp>
        <p:nvSpPr>
          <p:cNvPr id="137" name="Text 1"/>
          <p:cNvSpPr/>
          <p:nvPr/>
        </p:nvSpPr>
        <p:spPr>
          <a:xfrm>
            <a:off x="640080" y="320040"/>
            <a:ext cx="7314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Architecture Backend : Monolithe Modulaire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38" name="Text 2"/>
          <p:cNvSpPr/>
          <p:nvPr/>
        </p:nvSpPr>
        <p:spPr>
          <a:xfrm>
            <a:off x="640080" y="1371600"/>
            <a:ext cx="8137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d1d5db"/>
                </a:solidFill>
                <a:latin typeface="Arial"/>
                <a:ea typeface="Arial"/>
              </a:rPr>
              <a:t>FastAPI + Python | Embeddings MiniLM | Failover Automatique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39" name="Text 3"/>
          <p:cNvSpPr/>
          <p:nvPr/>
        </p:nvSpPr>
        <p:spPr>
          <a:xfrm>
            <a:off x="640440" y="1828800"/>
            <a:ext cx="39312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0b981"/>
                </a:solidFill>
                <a:latin typeface="Arial"/>
                <a:ea typeface="Arial"/>
              </a:rPr>
              <a:t>Pipeline d'Ingestion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40" name="Text 4"/>
          <p:cNvSpPr/>
          <p:nvPr/>
        </p:nvSpPr>
        <p:spPr>
          <a:xfrm>
            <a:off x="640440" y="2057400"/>
            <a:ext cx="39312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4f5f7"/>
                </a:solidFill>
                <a:latin typeface="Arial"/>
                <a:ea typeface="Arial"/>
              </a:rPr>
              <a:t>✓ </a:t>
            </a:r>
            <a:r>
              <a:rPr b="0" lang="en-US" sz="1100" spc="-1" strike="noStrike">
                <a:solidFill>
                  <a:srgbClr val="f4f5f7"/>
                </a:solidFill>
                <a:latin typeface="Arial"/>
                <a:ea typeface="Arial"/>
              </a:rPr>
              <a:t>Analyse des polices et styles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4f5f7"/>
                </a:solidFill>
                <a:latin typeface="Arial"/>
                <a:ea typeface="Arial"/>
              </a:rPr>
              <a:t>✓ </a:t>
            </a:r>
            <a:r>
              <a:rPr b="0" lang="en-US" sz="1100" spc="-1" strike="noStrike">
                <a:solidFill>
                  <a:srgbClr val="f4f5f7"/>
                </a:solidFill>
                <a:latin typeface="Arial"/>
                <a:ea typeface="Arial"/>
              </a:rPr>
              <a:t>Détection auto des titres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4f5f7"/>
                </a:solidFill>
                <a:latin typeface="Arial"/>
                <a:ea typeface="Arial"/>
              </a:rPr>
              <a:t>✓ </a:t>
            </a:r>
            <a:r>
              <a:rPr b="0" lang="en-US" sz="1100" spc="-1" strike="noStrike">
                <a:solidFill>
                  <a:srgbClr val="f4f5f7"/>
                </a:solidFill>
                <a:latin typeface="Arial"/>
                <a:ea typeface="Arial"/>
              </a:rPr>
              <a:t>Nettoyage des flux binaires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1" name="Text 5"/>
          <p:cNvSpPr/>
          <p:nvPr/>
        </p:nvSpPr>
        <p:spPr>
          <a:xfrm>
            <a:off x="4800600" y="1828440"/>
            <a:ext cx="39312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0b981"/>
                </a:solidFill>
                <a:latin typeface="Arial"/>
                <a:ea typeface="Arial"/>
              </a:rPr>
              <a:t>Intelligence Artificielle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42" name="Text 6"/>
          <p:cNvSpPr/>
          <p:nvPr/>
        </p:nvSpPr>
        <p:spPr>
          <a:xfrm>
            <a:off x="4846320" y="2057400"/>
            <a:ext cx="39312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4f5f7"/>
                </a:solidFill>
                <a:latin typeface="Arial"/>
                <a:ea typeface="Arial"/>
              </a:rPr>
              <a:t>✓ </a:t>
            </a:r>
            <a:r>
              <a:rPr b="0" lang="en-US" sz="1100" spc="-1" strike="noStrike">
                <a:solidFill>
                  <a:srgbClr val="f4f5f7"/>
                </a:solidFill>
                <a:latin typeface="Arial"/>
                <a:ea typeface="Arial"/>
              </a:rPr>
              <a:t>Embeddings MiniLM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4f5f7"/>
                </a:solidFill>
                <a:latin typeface="Arial"/>
                <a:ea typeface="Arial"/>
              </a:rPr>
              <a:t>✓ </a:t>
            </a:r>
            <a:r>
              <a:rPr b="0" lang="en-US" sz="1100" spc="-1" strike="noStrike">
                <a:solidFill>
                  <a:srgbClr val="f4f5f7"/>
                </a:solidFill>
                <a:latin typeface="Arial"/>
                <a:ea typeface="Arial"/>
              </a:rPr>
              <a:t>Recherche vectorielle cosinus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4f5f7"/>
                </a:solidFill>
                <a:latin typeface="Arial"/>
                <a:ea typeface="Arial"/>
              </a:rPr>
              <a:t>✓ </a:t>
            </a:r>
            <a:r>
              <a:rPr b="0" lang="en-US" sz="1100" spc="-1" strike="noStrike">
                <a:solidFill>
                  <a:srgbClr val="f4f5f7"/>
                </a:solidFill>
                <a:latin typeface="Arial"/>
                <a:ea typeface="Arial"/>
              </a:rPr>
              <a:t>Failover: Gemini → Groq → Ollama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3" name="Text 7"/>
          <p:cNvSpPr/>
          <p:nvPr/>
        </p:nvSpPr>
        <p:spPr>
          <a:xfrm>
            <a:off x="640080" y="3017520"/>
            <a:ext cx="81374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59e0b"/>
                </a:solidFill>
                <a:latin typeface="Arial"/>
                <a:ea typeface="Arial"/>
              </a:rPr>
              <a:t>Disponibilité Totale : Failover Automatique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44" name="Shape 8"/>
          <p:cNvSpPr/>
          <p:nvPr/>
        </p:nvSpPr>
        <p:spPr>
          <a:xfrm>
            <a:off x="1600200" y="3573000"/>
            <a:ext cx="1896840" cy="410760"/>
          </a:xfrm>
          <a:prstGeom prst="roundRect">
            <a:avLst>
              <a:gd name="adj" fmla="val 17778"/>
            </a:avLst>
          </a:prstGeom>
          <a:noFill/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9"/>
          <p:cNvSpPr/>
          <p:nvPr/>
        </p:nvSpPr>
        <p:spPr>
          <a:xfrm>
            <a:off x="1600200" y="3573000"/>
            <a:ext cx="18968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0b981"/>
                </a:solidFill>
                <a:latin typeface="Arial"/>
                <a:ea typeface="Arial"/>
              </a:rPr>
              <a:t>Gemini 2.5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46" name="Text 10"/>
          <p:cNvSpPr/>
          <p:nvPr/>
        </p:nvSpPr>
        <p:spPr>
          <a:xfrm>
            <a:off x="3429000" y="3573000"/>
            <a:ext cx="456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1d5db"/>
                </a:solidFill>
                <a:latin typeface="Arial"/>
                <a:ea typeface="Arial"/>
              </a:rPr>
              <a:t>→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7" name="Text 13"/>
          <p:cNvSpPr/>
          <p:nvPr/>
        </p:nvSpPr>
        <p:spPr>
          <a:xfrm>
            <a:off x="4663440" y="3527280"/>
            <a:ext cx="227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1d5db"/>
                </a:solidFill>
                <a:latin typeface="Arial"/>
                <a:ea typeface="Arial"/>
              </a:rPr>
              <a:t>→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8" name="Shape 14"/>
          <p:cNvSpPr/>
          <p:nvPr/>
        </p:nvSpPr>
        <p:spPr>
          <a:xfrm>
            <a:off x="3886200" y="3573000"/>
            <a:ext cx="1896840" cy="410760"/>
          </a:xfrm>
          <a:prstGeom prst="roundRect">
            <a:avLst>
              <a:gd name="adj" fmla="val 17778"/>
            </a:avLst>
          </a:prstGeom>
          <a:noFill/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15"/>
          <p:cNvSpPr/>
          <p:nvPr/>
        </p:nvSpPr>
        <p:spPr>
          <a:xfrm>
            <a:off x="3886200" y="3573000"/>
            <a:ext cx="18968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0b981"/>
                </a:solidFill>
                <a:latin typeface="Arial"/>
                <a:ea typeface="Arial"/>
              </a:rPr>
              <a:t>Groq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50" name="Text 16"/>
          <p:cNvSpPr/>
          <p:nvPr/>
        </p:nvSpPr>
        <p:spPr>
          <a:xfrm>
            <a:off x="5783400" y="3573000"/>
            <a:ext cx="227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1d5db"/>
                </a:solidFill>
                <a:latin typeface="Arial"/>
                <a:ea typeface="Arial"/>
              </a:rPr>
              <a:t>→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1" name="Shape 17"/>
          <p:cNvSpPr/>
          <p:nvPr/>
        </p:nvSpPr>
        <p:spPr>
          <a:xfrm>
            <a:off x="6172200" y="3573000"/>
            <a:ext cx="1896840" cy="410760"/>
          </a:xfrm>
          <a:prstGeom prst="roundRect">
            <a:avLst>
              <a:gd name="adj" fmla="val 17778"/>
            </a:avLst>
          </a:prstGeom>
          <a:noFill/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18"/>
          <p:cNvSpPr/>
          <p:nvPr/>
        </p:nvSpPr>
        <p:spPr>
          <a:xfrm>
            <a:off x="6172200" y="3573000"/>
            <a:ext cx="18968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0b981"/>
                </a:solidFill>
                <a:latin typeface="Arial"/>
                <a:ea typeface="Arial"/>
              </a:rPr>
              <a:t>Ollama (Local)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53" name="Text 19"/>
          <p:cNvSpPr/>
          <p:nvPr/>
        </p:nvSpPr>
        <p:spPr>
          <a:xfrm>
            <a:off x="640080" y="4526640"/>
            <a:ext cx="8137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d1d5db"/>
                </a:solidFill>
                <a:latin typeface="Arial"/>
                <a:ea typeface="Arial"/>
              </a:rPr>
              <a:t>Infrastructure : Docker Compose | FastAPI backend | React frontend + Nginx | Réseau isolé | Healthchecks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15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0"/>
          <p:cNvSpPr/>
          <p:nvPr/>
        </p:nvSpPr>
        <p:spPr>
          <a:xfrm>
            <a:off x="365760" y="0"/>
            <a:ext cx="72360" cy="51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55" name="Image 0" descr="/mnt/user-data/uploads/logo.svg"/>
          <p:cNvPicPr/>
          <p:nvPr/>
        </p:nvPicPr>
        <p:blipFill>
          <a:blip r:embed="rId1">
            <a:alphaModFix amt="0"/>
          </a:blip>
          <a:stretch/>
        </p:blipFill>
        <p:spPr>
          <a:xfrm>
            <a:off x="8229600" y="274320"/>
            <a:ext cx="822240" cy="822240"/>
          </a:xfrm>
          <a:prstGeom prst="rect">
            <a:avLst/>
          </a:prstGeom>
          <a:ln w="0">
            <a:noFill/>
          </a:ln>
        </p:spPr>
      </p:pic>
      <p:sp>
        <p:nvSpPr>
          <p:cNvPr id="156" name="Text 1"/>
          <p:cNvSpPr/>
          <p:nvPr/>
        </p:nvSpPr>
        <p:spPr>
          <a:xfrm>
            <a:off x="640080" y="320040"/>
            <a:ext cx="7314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MVP : Périmètre Fonctionnel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57" name="Shape 2"/>
          <p:cNvSpPr/>
          <p:nvPr/>
        </p:nvSpPr>
        <p:spPr>
          <a:xfrm>
            <a:off x="640080" y="1143000"/>
            <a:ext cx="2620440" cy="1645200"/>
          </a:xfrm>
          <a:prstGeom prst="roundRect">
            <a:avLst>
              <a:gd name="adj" fmla="val 5556"/>
            </a:avLst>
          </a:prstGeom>
          <a:noFill/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Text 3"/>
          <p:cNvSpPr/>
          <p:nvPr/>
        </p:nvSpPr>
        <p:spPr>
          <a:xfrm>
            <a:off x="731520" y="1280160"/>
            <a:ext cx="24375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0b981"/>
                </a:solidFill>
                <a:latin typeface="Arial"/>
                <a:ea typeface="Arial"/>
              </a:rPr>
              <a:t>Auth &amp; User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59" name="Text 4"/>
          <p:cNvSpPr/>
          <p:nvPr/>
        </p:nvSpPr>
        <p:spPr>
          <a:xfrm>
            <a:off x="731520" y="1737360"/>
            <a:ext cx="24375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4f5f7"/>
                </a:solidFill>
                <a:latin typeface="Arial"/>
                <a:ea typeface="Arial"/>
              </a:rPr>
              <a:t>Gestion sécurisée des comptes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0" name="Shape 5"/>
          <p:cNvSpPr/>
          <p:nvPr/>
        </p:nvSpPr>
        <p:spPr>
          <a:xfrm>
            <a:off x="3444120" y="1143000"/>
            <a:ext cx="2620440" cy="1645200"/>
          </a:xfrm>
          <a:prstGeom prst="roundRect">
            <a:avLst>
              <a:gd name="adj" fmla="val 5556"/>
            </a:avLst>
          </a:prstGeom>
          <a:noFill/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6"/>
          <p:cNvSpPr/>
          <p:nvPr/>
        </p:nvSpPr>
        <p:spPr>
          <a:xfrm>
            <a:off x="3535560" y="1280160"/>
            <a:ext cx="24375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0b981"/>
                </a:solidFill>
                <a:latin typeface="Arial"/>
                <a:ea typeface="Arial"/>
              </a:rPr>
              <a:t>Workspace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2" name="Text 7"/>
          <p:cNvSpPr/>
          <p:nvPr/>
        </p:nvSpPr>
        <p:spPr>
          <a:xfrm>
            <a:off x="3535560" y="1737360"/>
            <a:ext cx="24375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4f5f7"/>
                </a:solidFill>
                <a:latin typeface="Arial"/>
                <a:ea typeface="Arial"/>
              </a:rPr>
              <a:t>Espaces collaboratifs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3" name="Shape 8"/>
          <p:cNvSpPr/>
          <p:nvPr/>
        </p:nvSpPr>
        <p:spPr>
          <a:xfrm>
            <a:off x="6248520" y="1143000"/>
            <a:ext cx="2620440" cy="1645200"/>
          </a:xfrm>
          <a:prstGeom prst="roundRect">
            <a:avLst>
              <a:gd name="adj" fmla="val 5556"/>
            </a:avLst>
          </a:prstGeom>
          <a:noFill/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9"/>
          <p:cNvSpPr/>
          <p:nvPr/>
        </p:nvSpPr>
        <p:spPr>
          <a:xfrm>
            <a:off x="6339960" y="1280160"/>
            <a:ext cx="24375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0b981"/>
                </a:solidFill>
                <a:latin typeface="Arial"/>
                <a:ea typeface="Arial"/>
              </a:rPr>
              <a:t>Drive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5" name="Text 10"/>
          <p:cNvSpPr/>
          <p:nvPr/>
        </p:nvSpPr>
        <p:spPr>
          <a:xfrm>
            <a:off x="6339960" y="1737360"/>
            <a:ext cx="24375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4f5f7"/>
                </a:solidFill>
                <a:latin typeface="Arial"/>
                <a:ea typeface="Arial"/>
              </a:rPr>
              <a:t>Upload PDF/DOCX, indexation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6" name="Shape 11"/>
          <p:cNvSpPr/>
          <p:nvPr/>
        </p:nvSpPr>
        <p:spPr>
          <a:xfrm>
            <a:off x="640080" y="2926080"/>
            <a:ext cx="2620440" cy="1645200"/>
          </a:xfrm>
          <a:prstGeom prst="roundRect">
            <a:avLst>
              <a:gd name="adj" fmla="val 5556"/>
            </a:avLst>
          </a:prstGeom>
          <a:noFill/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12"/>
          <p:cNvSpPr/>
          <p:nvPr/>
        </p:nvSpPr>
        <p:spPr>
          <a:xfrm>
            <a:off x="731520" y="3063240"/>
            <a:ext cx="24375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0b981"/>
                </a:solidFill>
                <a:latin typeface="Arial"/>
                <a:ea typeface="Arial"/>
              </a:rPr>
              <a:t>Wiki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8" name="Text 13"/>
          <p:cNvSpPr/>
          <p:nvPr/>
        </p:nvSpPr>
        <p:spPr>
          <a:xfrm>
            <a:off x="731520" y="3520440"/>
            <a:ext cx="24375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4f5f7"/>
                </a:solidFill>
                <a:latin typeface="Arial"/>
                <a:ea typeface="Arial"/>
              </a:rPr>
              <a:t>Hiérarchie, éditeur, maillage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9" name="Shape 14"/>
          <p:cNvSpPr/>
          <p:nvPr/>
        </p:nvSpPr>
        <p:spPr>
          <a:xfrm>
            <a:off x="3444120" y="2926080"/>
            <a:ext cx="2620440" cy="1645200"/>
          </a:xfrm>
          <a:prstGeom prst="roundRect">
            <a:avLst>
              <a:gd name="adj" fmla="val 5556"/>
            </a:avLst>
          </a:prstGeom>
          <a:noFill/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15"/>
          <p:cNvSpPr/>
          <p:nvPr/>
        </p:nvSpPr>
        <p:spPr>
          <a:xfrm>
            <a:off x="3535560" y="3063240"/>
            <a:ext cx="24375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0b981"/>
                </a:solidFill>
                <a:latin typeface="Arial"/>
                <a:ea typeface="Arial"/>
              </a:rPr>
              <a:t>Lekki AI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1" name="Text 16"/>
          <p:cNvSpPr/>
          <p:nvPr/>
        </p:nvSpPr>
        <p:spPr>
          <a:xfrm>
            <a:off x="3535560" y="3520440"/>
            <a:ext cx="24375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4f5f7"/>
                </a:solidFill>
                <a:latin typeface="Arial"/>
                <a:ea typeface="Arial"/>
              </a:rPr>
              <a:t>Chat RAG avec attribution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72" name="Shape 17"/>
          <p:cNvSpPr/>
          <p:nvPr/>
        </p:nvSpPr>
        <p:spPr>
          <a:xfrm>
            <a:off x="6248520" y="2926080"/>
            <a:ext cx="2620440" cy="1645200"/>
          </a:xfrm>
          <a:prstGeom prst="roundRect">
            <a:avLst>
              <a:gd name="adj" fmla="val 5556"/>
            </a:avLst>
          </a:prstGeom>
          <a:noFill/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18"/>
          <p:cNvSpPr/>
          <p:nvPr/>
        </p:nvSpPr>
        <p:spPr>
          <a:xfrm>
            <a:off x="6339960" y="3063240"/>
            <a:ext cx="24375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0b981"/>
                </a:solidFill>
                <a:latin typeface="Arial"/>
                <a:ea typeface="Arial"/>
              </a:rPr>
              <a:t>Infrastructure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4" name="Text 19"/>
          <p:cNvSpPr/>
          <p:nvPr/>
        </p:nvSpPr>
        <p:spPr>
          <a:xfrm>
            <a:off x="6339960" y="3520440"/>
            <a:ext cx="24375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4f5f7"/>
                </a:solidFill>
                <a:latin typeface="Arial"/>
                <a:ea typeface="Arial"/>
              </a:rPr>
              <a:t>FastAPI + React + BD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15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0"/>
          <p:cNvSpPr/>
          <p:nvPr/>
        </p:nvSpPr>
        <p:spPr>
          <a:xfrm>
            <a:off x="365760" y="0"/>
            <a:ext cx="72360" cy="51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76" name="Image 0" descr="/mnt/user-data/uploads/lekki-ai-logo.png"/>
          <p:cNvPicPr/>
          <p:nvPr/>
        </p:nvPicPr>
        <p:blipFill>
          <a:blip r:embed="rId1">
            <a:alphaModFix amt="0"/>
          </a:blip>
          <a:stretch/>
        </p:blipFill>
        <p:spPr>
          <a:xfrm>
            <a:off x="7772400" y="4297680"/>
            <a:ext cx="913680" cy="913680"/>
          </a:xfrm>
          <a:prstGeom prst="rect">
            <a:avLst/>
          </a:prstGeom>
          <a:ln w="0">
            <a:noFill/>
          </a:ln>
        </p:spPr>
      </p:pic>
      <p:sp>
        <p:nvSpPr>
          <p:cNvPr id="177" name="Text 1"/>
          <p:cNvSpPr/>
          <p:nvPr/>
        </p:nvSpPr>
        <p:spPr>
          <a:xfrm>
            <a:off x="640080" y="914400"/>
            <a:ext cx="72230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  <a:ea typeface="Arial"/>
              </a:rPr>
              <a:t>Moins de temps à chercher,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178" name="Text 2"/>
          <p:cNvSpPr/>
          <p:nvPr/>
        </p:nvSpPr>
        <p:spPr>
          <a:xfrm>
            <a:off x="1143000" y="1509120"/>
            <a:ext cx="75434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10b981"/>
                </a:solidFill>
                <a:latin typeface="Arial"/>
                <a:ea typeface="Arial"/>
              </a:rPr>
              <a:t>plus de temps à comprendre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179" name="Text 3"/>
          <p:cNvSpPr/>
          <p:nvPr/>
        </p:nvSpPr>
        <p:spPr>
          <a:xfrm>
            <a:off x="1143000" y="2469240"/>
            <a:ext cx="6765840" cy="21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4f5f7"/>
                </a:solidFill>
                <a:latin typeface="Arial"/>
                <a:ea typeface="Arial"/>
              </a:rPr>
              <a:t>✨ </a:t>
            </a:r>
            <a:r>
              <a:rPr b="0" lang="en-US" sz="1200" spc="-1" strike="noStrike">
                <a:solidFill>
                  <a:srgbClr val="f4f5f7"/>
                </a:solidFill>
                <a:latin typeface="Arial"/>
                <a:ea typeface="Arial"/>
              </a:rPr>
              <a:t>Un assistant personnel qui connaît tous vos cours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4f5f7"/>
                </a:solidFill>
                <a:latin typeface="Arial"/>
                <a:ea typeface="Arial"/>
              </a:rPr>
              <a:t>🧠 </a:t>
            </a:r>
            <a:r>
              <a:rPr b="0" lang="en-US" sz="1200" spc="-1" strike="noStrike">
                <a:solidFill>
                  <a:srgbClr val="f4f5f7"/>
                </a:solidFill>
                <a:latin typeface="Arial"/>
                <a:ea typeface="Arial"/>
              </a:rPr>
              <a:t>Un cerveau collectif pour vos groupes de travail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4f5f7"/>
                </a:solidFill>
                <a:latin typeface="Arial"/>
                <a:ea typeface="Arial"/>
              </a:rPr>
              <a:t>⚡ </a:t>
            </a:r>
            <a:r>
              <a:rPr b="0" lang="en-US" sz="1200" spc="-1" strike="noStrike">
                <a:solidFill>
                  <a:srgbClr val="f4f5f7"/>
                </a:solidFill>
                <a:latin typeface="Arial"/>
                <a:ea typeface="Arial"/>
              </a:rPr>
              <a:t>Accédez à votre savoir en secondes, pas en heures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4f5f7"/>
                </a:solidFill>
                <a:latin typeface="Arial"/>
                <a:ea typeface="Arial"/>
              </a:rPr>
              <a:t>🚀 </a:t>
            </a:r>
            <a:r>
              <a:rPr b="0" lang="en-US" sz="1200" spc="-1" strike="noStrike">
                <a:solidFill>
                  <a:srgbClr val="f4f5f7"/>
                </a:solidFill>
                <a:latin typeface="Arial"/>
                <a:ea typeface="Arial"/>
              </a:rPr>
              <a:t>Production-ready, déployable en minutes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0" name="Text 4"/>
          <p:cNvSpPr/>
          <p:nvPr/>
        </p:nvSpPr>
        <p:spPr>
          <a:xfrm>
            <a:off x="640080" y="4572000"/>
            <a:ext cx="81374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Arial"/>
                <a:ea typeface="Arial"/>
              </a:rPr>
              <a:t>Lekki : Le Hub Intelligent de Gestion des Savoirs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2026-09-17T22:22:24Z</dcterms:created>
  <dc:creator>PptxGenJS</dc:creator>
  <dc:description/>
  <dc:language>en-US</dc:language>
  <cp:lastModifiedBy/>
  <dcterms:modified xsi:type="dcterms:W3CDTF">2026-09-18T00:14:10Z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